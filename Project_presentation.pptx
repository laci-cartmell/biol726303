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96" r:id="rId3"/>
    <p:sldId id="297" r:id="rId4"/>
    <p:sldId id="313" r:id="rId5"/>
    <p:sldId id="314" r:id="rId6"/>
    <p:sldId id="264" r:id="rId7"/>
    <p:sldId id="269" r:id="rId8"/>
    <p:sldId id="304" r:id="rId9"/>
    <p:sldId id="322" r:id="rId10"/>
    <p:sldId id="310" r:id="rId11"/>
    <p:sldId id="305" r:id="rId12"/>
    <p:sldId id="315" r:id="rId13"/>
    <p:sldId id="309" r:id="rId14"/>
    <p:sldId id="311" r:id="rId15"/>
    <p:sldId id="317" r:id="rId16"/>
    <p:sldId id="306" r:id="rId17"/>
    <p:sldId id="307" r:id="rId18"/>
    <p:sldId id="321" r:id="rId19"/>
    <p:sldId id="319" r:id="rId20"/>
    <p:sldId id="323" r:id="rId21"/>
    <p:sldId id="281" r:id="rId22"/>
    <p:sldId id="292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8366" autoAdjust="0"/>
  </p:normalViewPr>
  <p:slideViewPr>
    <p:cSldViewPr snapToGrid="0">
      <p:cViewPr>
        <p:scale>
          <a:sx n="82" d="100"/>
          <a:sy n="82" d="100"/>
        </p:scale>
        <p:origin x="672" y="-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42384-5545-47F7-A6C7-1A41725341CC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A6413-C446-458E-8AC3-ECAD635E1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7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I list lab in addition to university?</a:t>
            </a:r>
          </a:p>
          <a:p>
            <a:endParaRPr lang="en-US" dirty="0"/>
          </a:p>
          <a:p>
            <a:r>
              <a:rPr lang="en-US" dirty="0"/>
              <a:t>Today, I am going to tell you about the population genetics of the swallow bug. They are a temporary parasite of the cliff swallow.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A6413-C446-458E-8AC3-ECAD635E13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6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samples were separated by year so that the core pipeline and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populations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were run twice - once for 2014 and once for 2021 collected samples. 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C9DAF8"/>
                </a:highlight>
                <a:latin typeface="Times New Roman" panose="02020603050405020304" pitchFamily="18" charset="0"/>
              </a:rPr>
              <a:t>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 core pipeline builds loci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ustacks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), creates a catalog of loci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cstacks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), matches samples to the catalog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sstacks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), reorganizes the data by RAD locus (tsv2bam), and calls genotypes and phases SNPs into haplotypes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gstacks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).  The catalogs were constructed from 63 (2014) and 40 samples (2021) that were representative of the sampling sites and included individuals with greater than 1 million reads. After the core de novo pipeline completed, it was followed by the alignment of the consensus sequences in the catalog to the reference genome of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C. lectularius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using the BWA-MEM algorithm. The stacks-integrate-alignments program integrates the locus alignment coordinates into the de novo catalogs, while filtering to eliminate spurious alignments.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Catchen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et al., 2011).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914E1-B09D-4581-AA57-C579B61CA1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22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CC333-BEF8-ECB1-7DDC-8F1628FB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F09E6-09CE-A219-1BA6-1189E508F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03616-0AFF-9283-53E9-53042DA16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samples were separated by year so that the core pipeline and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populations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were run twice - once for 2014 and once for 2021 collected samples. 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C9DAF8"/>
                </a:highlight>
                <a:latin typeface="Times New Roman" panose="02020603050405020304" pitchFamily="18" charset="0"/>
              </a:rPr>
              <a:t>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 core pipeline builds loci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ustacks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), creates a catalog of loci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cstacks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), matches samples to the catalog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sstacks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), reorganizes the data by RAD locus (tsv2bam), and calls genotypes and phases SNPs into haplotypes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gstacks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).  The catalogs were constructed from 63 (2014) and 40 samples (2021) that were representative of the sampling sites and included individuals with greater than 1 million reads. After the core de novo pipeline completed, it was followed by the alignment of the consensus sequences in the catalog to the reference genome of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C. lectularius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using the BWA-MEM algorithm. The stacks-integrate-alignments program integrates the locus alignment coordinates into the de novo catalogs, while filtering to eliminate spurious alignments.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Catchen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et al., 2011).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B8988-D891-A5EB-AA86-76E7A3B73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914E1-B09D-4581-AA57-C579B61CA1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88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914E1-B09D-4581-AA57-C579B61CA1B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55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914E1-B09D-4581-AA57-C579B61CA1B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369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237B-E84F-A7E1-9C70-1D13B7E26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B15C6-F8B9-36C1-83AF-607B25058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15B2D-65A9-0900-BF5D-590BA2908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E03E8-816B-19DA-4D5C-450BDED80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C04F2-5631-7FFD-EDE0-17129737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5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31EE7-C138-9F23-AB8E-4173EEF2B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EEE36-1E0D-0DCD-F1DA-F58B62E5B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857E5-3950-8243-CBD1-3301BBD82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E82CF-FFA4-8010-9C0D-02F39D5D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8C55B-B66F-BCC9-0825-D3F20BAB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87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2CD33-640B-ACBA-157F-40DA20406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062F9-41F0-D79D-F224-78516085C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A888F-F913-2015-F2E9-C3FD9CC5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90D73-6EF6-244D-4F98-D7899A605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D066E-C6AB-DA56-93C4-2AA64610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53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3470F-21A3-4981-BED0-681CF4F7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8BE4A-B4F1-356E-0027-2BF2882DB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7935E-A688-43C0-6E7F-0172AA518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8D38C-DE7F-B317-9FCC-FFB6B9042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CA409-3280-5143-5ACB-0F872DD3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1B633-7D12-5C1F-2E75-D92BBE537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1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E33E8-F1CD-5ED9-886E-2B01B3F37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D2C00-CBEC-77B6-DFE3-AF46C5A98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1E530-A772-C943-9DBD-8EF3B6F75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E4FD9-AF39-2C0D-B950-0E292EA459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3C8AE9-D3FC-2333-2B38-DCF227A45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522E0-2EC1-35EF-5E0A-34CDB8E4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79319-3C18-96CF-A265-B0582B11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CBA28-D457-F96D-E354-890E7CF2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2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F4E2-DB65-6ECE-F1EC-A7C4831D6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7C22B-13F9-8782-F7DF-0C8A8E0FB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B1E87-945C-8C80-6058-BD7747D24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E1750-4736-A5FA-43F1-AEDC62292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54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FFE756-86FB-7240-3EFC-6F92B0019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839435-4979-A931-6666-D6F2E4E5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900EA-E163-453B-BF6B-61D95133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1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AEB70-B842-F759-F268-357C062D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82382-2792-0B19-5CCC-D905D7E0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91B13-FA79-309F-6608-A78AFC2AD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D72B7-A6A6-C564-9065-7DFE3CACA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6645A-B658-ABD7-C8E9-FA324F026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E3C83-70C9-ABF8-42CE-F9DE42188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9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5A56-1FFF-07A2-7CEE-DDADF365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A54F27-F46A-5F9F-9DD3-D0226E255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B9B67-2187-EAC2-3376-11135885F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403D5-633A-D563-E9A2-5A543D0B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3680B-9601-4CA8-8690-C363971B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189E8-708D-83F2-4AEB-573EB6268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1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5544-8174-CE1B-2E09-7EF472A15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28413-6B69-CBD7-14E3-01E6DB481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27871-D355-FD3D-CE84-9E21ED7B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1F310-198A-1910-7816-C6FA6727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3A75C-7AAE-989D-F12C-705061784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79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733B9-5C76-DECE-A7EC-23F567D0E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2EF56-0C44-4A14-B157-4CF235110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14D8E-25F8-6138-09AF-43480783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62CC5-DDA9-9043-D8F6-BEBB3758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031CE-44B1-B2A8-06BD-17822D37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1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68005-8141-6972-C60A-2B630533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D8EAF-1A3D-321C-E6DE-CFB291D7A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9D1E-B56A-931A-79F8-BF0E1D13F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F3888-0931-491F-9220-B19D690D4A0E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9D960-482C-35A8-48F6-174A1BB4D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6C150-E876-873D-05A3-6B6C2E7E7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61569-581B-4D23-8B50-65622234C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3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B5EB-22C3-7717-C2A6-0C020DAFD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6663" y="1941459"/>
            <a:ext cx="6440077" cy="373407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Presence/absence of Isolation by distance in the swallow bug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D6691-7DD5-7DA2-E8FB-9C6629E93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402" y="5858983"/>
            <a:ext cx="2043953" cy="94129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Laci Cartmell</a:t>
            </a:r>
          </a:p>
          <a:p>
            <a:pPr algn="r"/>
            <a:r>
              <a:rPr lang="en-US" dirty="0"/>
              <a:t>BIOL-7263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7728A-2CA6-3A45-35BE-0E3F853F2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963" y="4248840"/>
            <a:ext cx="430306" cy="542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9B1724-60DF-533B-39BA-CC1B11DB8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357" y="2106975"/>
            <a:ext cx="430306" cy="542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506FAF-62AB-1CF9-1C6E-30C5C9BCB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357" y="1391806"/>
            <a:ext cx="430306" cy="542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4250F5-67ED-EFC1-B212-EEF5DF260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965" y="-10758"/>
            <a:ext cx="430306" cy="5429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759631-78AB-9FBE-948A-9B740DE33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357" y="2822144"/>
            <a:ext cx="430306" cy="542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C1CB65-D441-2000-0A8A-1DC9F0C9E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963" y="3535492"/>
            <a:ext cx="430306" cy="5429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A1102A-6BFA-7236-6489-9746EE1B5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964" y="679766"/>
            <a:ext cx="430306" cy="5429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315C56-B8CE-1902-FFF2-FCF1448A4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356" y="4962188"/>
            <a:ext cx="430306" cy="5429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064DA1-7CA5-3CCF-927A-CBD9CAC02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356" y="5675536"/>
            <a:ext cx="430306" cy="5429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89AAEA3-DA00-3544-5D96-5F85FF815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356" y="6329630"/>
            <a:ext cx="430306" cy="542990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85CD9248-B2EB-D672-7825-2579F34236CD}"/>
              </a:ext>
            </a:extLst>
          </p:cNvPr>
          <p:cNvSpPr txBox="1">
            <a:spLocks/>
          </p:cNvSpPr>
          <p:nvPr/>
        </p:nvSpPr>
        <p:spPr>
          <a:xfrm>
            <a:off x="525509" y="476920"/>
            <a:ext cx="2244846" cy="16546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i="1" dirty="0" err="1"/>
              <a:t>fastQC</a:t>
            </a:r>
            <a:endParaRPr lang="en-US" i="1" dirty="0"/>
          </a:p>
          <a:p>
            <a:pPr algn="r"/>
            <a:r>
              <a:rPr lang="en-US" i="1" dirty="0"/>
              <a:t>STACKS</a:t>
            </a:r>
          </a:p>
          <a:p>
            <a:pPr algn="r"/>
            <a:r>
              <a:rPr lang="en-US" i="1" dirty="0"/>
              <a:t>R: GENEPOP;</a:t>
            </a:r>
          </a:p>
          <a:p>
            <a:pPr algn="r"/>
            <a:r>
              <a:rPr lang="en-US" i="1" dirty="0"/>
              <a:t>HIERFSTATS;</a:t>
            </a:r>
          </a:p>
          <a:p>
            <a:pPr algn="r"/>
            <a:r>
              <a:rPr lang="en-US" i="1" dirty="0" err="1"/>
              <a:t>vcfR</a:t>
            </a:r>
            <a:r>
              <a:rPr lang="en-US" i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50563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5A558-818E-FF59-FC79-13553CDD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</a:t>
            </a:r>
            <a:r>
              <a:rPr lang="en-US" i="1" dirty="0"/>
              <a:t>Cimex vicarius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009C0-667C-FDFA-B209-946D53EE9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Parasitizes the cliff swallow (</a:t>
            </a:r>
            <a:r>
              <a:rPr lang="en-US" i="1" dirty="0" err="1"/>
              <a:t>Petrochelidon</a:t>
            </a:r>
            <a:r>
              <a:rPr lang="en-US" i="1" dirty="0"/>
              <a:t> </a:t>
            </a:r>
            <a:r>
              <a:rPr lang="en-US" i="1" dirty="0" err="1"/>
              <a:t>pyrrhonota</a:t>
            </a:r>
            <a:r>
              <a:rPr lang="en-US" dirty="0"/>
              <a:t>) which is a migratory and highly colonial passerine</a:t>
            </a:r>
          </a:p>
          <a:p>
            <a:pPr lvl="1"/>
            <a:r>
              <a:rPr lang="en-US" dirty="0"/>
              <a:t>colonies are typically separated by 1-10km in a study area of 200x50km</a:t>
            </a:r>
          </a:p>
          <a:p>
            <a:pPr lvl="1"/>
            <a:r>
              <a:rPr lang="en-US" dirty="0"/>
              <a:t>colonies are non-randomly clustered (Moran’s I)</a:t>
            </a:r>
          </a:p>
          <a:p>
            <a:r>
              <a:rPr lang="en-US" dirty="0"/>
              <a:t>Actively disperse within a colony </a:t>
            </a:r>
          </a:p>
          <a:p>
            <a:r>
              <a:rPr lang="en-US" dirty="0"/>
              <a:t>Passively disperse between colonies by cliff swallow movement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27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059BC-9E68-C350-3F9D-B3E9F9D2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6960-3BDF-93F3-0937-4ECF8F61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914FE-BB61-DBDD-8750-DC9FA4AF8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 work found that t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</a:rPr>
              <a:t>he genetic diversity of swallow bugs from cliff swallow colony sites were negatively associated with distance from ancestral cliffs 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</a:rPr>
              <a:t>(Moore, 2016)</a:t>
            </a:r>
          </a:p>
          <a:p>
            <a:pPr marL="457200" lvl="1" indent="0"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Calibri" panose="020F0502020204030204" pitchFamily="34" charset="0"/>
            </a:endParaRPr>
          </a:p>
          <a:p>
            <a:r>
              <a:rPr lang="en-US" dirty="0"/>
              <a:t>Using restriction-associated sequencing to generate SNPs, evaluate the genetic distance with respect to geographic distance between colonies</a:t>
            </a:r>
          </a:p>
        </p:txBody>
      </p:sp>
    </p:spTree>
    <p:extLst>
      <p:ext uri="{BB962C8B-B14F-4D97-AF65-F5344CB8AC3E}">
        <p14:creationId xmlns:p14="http://schemas.microsoft.com/office/powerpoint/2010/main" val="2788313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ADDB0-9CB4-2016-F606-2D28B315F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F302-EB18-C0CB-E0E8-781D49D02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0460"/>
            <a:ext cx="10515600" cy="1325563"/>
          </a:xfrm>
        </p:spPr>
        <p:txBody>
          <a:bodyPr/>
          <a:lstStyle/>
          <a:p>
            <a:r>
              <a:rPr lang="en-US" dirty="0"/>
              <a:t>Methods: pre-sequencing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C292B99-A42E-ED0C-1822-A34DAAF3A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632" y="1419329"/>
            <a:ext cx="5907368" cy="50550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Swallow bugs were collected from 23 cliff swallow colonies in 2014 and 14 colonies in 2021</a:t>
            </a:r>
          </a:p>
          <a:p>
            <a:r>
              <a:rPr lang="en-US" sz="2000" dirty="0"/>
              <a:t>DNA extraction &amp; library prep</a:t>
            </a:r>
          </a:p>
          <a:p>
            <a:r>
              <a:rPr lang="en-US" sz="2000" dirty="0"/>
              <a:t>double-digest Restriction Site-Associated DNA sequencing (</a:t>
            </a:r>
            <a:r>
              <a:rPr lang="en-US" sz="2000" dirty="0" err="1"/>
              <a:t>ddRAD</a:t>
            </a:r>
            <a:r>
              <a:rPr lang="en-US" sz="2000" dirty="0"/>
              <a:t>-seq) </a:t>
            </a:r>
          </a:p>
          <a:p>
            <a:r>
              <a:rPr lang="en-US" sz="2000" dirty="0"/>
              <a:t>Sequenced using Illumina </a:t>
            </a:r>
            <a:r>
              <a:rPr lang="en-US" sz="2000" dirty="0" err="1"/>
              <a:t>HiSeq</a:t>
            </a:r>
            <a:r>
              <a:rPr lang="en-US" sz="2000" dirty="0"/>
              <a:t> 4000 at the University of Oregon Genomics and Cell Characterization Core Facility (GC3F)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5896F4-FE7B-795E-EF31-4B191D6F0F5F}"/>
              </a:ext>
            </a:extLst>
          </p:cNvPr>
          <p:cNvGrpSpPr/>
          <p:nvPr/>
        </p:nvGrpSpPr>
        <p:grpSpPr>
          <a:xfrm>
            <a:off x="188632" y="1239166"/>
            <a:ext cx="6529892" cy="4489059"/>
            <a:chOff x="342899" y="-233321"/>
            <a:chExt cx="12488369" cy="70720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BFA3C25-8C08-4C9C-890D-EDDE57AE1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899" y="210453"/>
              <a:ext cx="11556995" cy="662827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A969B1C-35B8-5388-39BC-16295D8E45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6337" b="2990"/>
            <a:stretch/>
          </p:blipFill>
          <p:spPr>
            <a:xfrm>
              <a:off x="9039828" y="255215"/>
              <a:ext cx="2720301" cy="240676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AD971A-11E7-37D5-7259-168FF9C3F1D4}"/>
                </a:ext>
              </a:extLst>
            </p:cNvPr>
            <p:cNvSpPr txBox="1"/>
            <p:nvPr/>
          </p:nvSpPr>
          <p:spPr>
            <a:xfrm>
              <a:off x="4632916" y="-233321"/>
              <a:ext cx="8198352" cy="567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https://www.cliffswallow.org/photos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802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6BEE-CC4B-E95D-F1A4-F1496D2DF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A986-6511-EA16-F515-649730B5A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0460"/>
            <a:ext cx="10515600" cy="1325563"/>
          </a:xfrm>
        </p:spPr>
        <p:txBody>
          <a:bodyPr/>
          <a:lstStyle/>
          <a:p>
            <a:r>
              <a:rPr lang="en-US" dirty="0"/>
              <a:t>Methods: pre-sequencing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B350F25-7D68-B517-CCEE-EA6F1C38B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35103"/>
            <a:ext cx="6096000" cy="5057462"/>
          </a:xfrm>
        </p:spPr>
        <p:txBody>
          <a:bodyPr>
            <a:normAutofit/>
          </a:bodyPr>
          <a:lstStyle/>
          <a:p>
            <a:r>
              <a:rPr lang="en-US" sz="2000" dirty="0"/>
              <a:t>Swallow bugs were collected from 23 cliff swallow colonies in 2014 and 14 colonies in 2021</a:t>
            </a:r>
          </a:p>
          <a:p>
            <a:r>
              <a:rPr lang="en-US" sz="2000" dirty="0"/>
              <a:t>DNA extraction &amp; library prep</a:t>
            </a:r>
          </a:p>
          <a:p>
            <a:r>
              <a:rPr lang="en-US" sz="2000" b="1" dirty="0"/>
              <a:t>double-digest Restriction Site-Associated DNA sequencing</a:t>
            </a:r>
            <a:r>
              <a:rPr lang="en-US" sz="2000" dirty="0"/>
              <a:t> (</a:t>
            </a:r>
            <a:r>
              <a:rPr lang="en-US" sz="2000" dirty="0" err="1"/>
              <a:t>ddRAD</a:t>
            </a:r>
            <a:r>
              <a:rPr lang="en-US" sz="2000" dirty="0"/>
              <a:t>-seq) </a:t>
            </a:r>
          </a:p>
          <a:p>
            <a:pPr lvl="1"/>
            <a:r>
              <a:rPr lang="en-US" sz="1800" dirty="0"/>
              <a:t>sequences the same subset of a genome across many samples at one time </a:t>
            </a:r>
          </a:p>
          <a:p>
            <a:r>
              <a:rPr lang="en-US" sz="2000" dirty="0"/>
              <a:t>Sequenced using Illumina </a:t>
            </a:r>
            <a:r>
              <a:rPr lang="en-US" sz="2000" dirty="0" err="1"/>
              <a:t>HiSeq</a:t>
            </a:r>
            <a:r>
              <a:rPr lang="en-US" sz="2000" dirty="0"/>
              <a:t> 4000 at the University of Oregon Genomics and Cell Characterization Core Facility (GC3F)</a:t>
            </a:r>
          </a:p>
        </p:txBody>
      </p:sp>
      <p:pic>
        <p:nvPicPr>
          <p:cNvPr id="2052" name="Picture 4" descr="Construction of individual ddRAD libraries">
            <a:extLst>
              <a:ext uri="{FF2B5EF4-FFF2-40B4-BE49-F238E27FC236}">
                <a16:creationId xmlns:a16="http://schemas.microsoft.com/office/drawing/2014/main" id="{F2323760-A205-DBC9-5057-E9E0F1711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" t="9322"/>
          <a:stretch/>
        </p:blipFill>
        <p:spPr bwMode="auto">
          <a:xfrm>
            <a:off x="93305" y="933060"/>
            <a:ext cx="6100535" cy="5685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385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AD3448-DB4F-3CE2-D3A1-906E924A62F4}"/>
              </a:ext>
            </a:extLst>
          </p:cNvPr>
          <p:cNvCxnSpPr>
            <a:cxnSpLocks/>
          </p:cNvCxnSpPr>
          <p:nvPr/>
        </p:nvCxnSpPr>
        <p:spPr>
          <a:xfrm>
            <a:off x="4503625" y="1787028"/>
            <a:ext cx="6893859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2697F8B-5DC7-B154-B9DE-42DC3CF05B11}"/>
              </a:ext>
            </a:extLst>
          </p:cNvPr>
          <p:cNvCxnSpPr>
            <a:cxnSpLocks/>
          </p:cNvCxnSpPr>
          <p:nvPr/>
        </p:nvCxnSpPr>
        <p:spPr>
          <a:xfrm flipV="1">
            <a:off x="5611906" y="1661522"/>
            <a:ext cx="0" cy="251011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625212A-DC34-F263-0FF9-2E0FCA802A19}"/>
              </a:ext>
            </a:extLst>
          </p:cNvPr>
          <p:cNvCxnSpPr>
            <a:cxnSpLocks/>
          </p:cNvCxnSpPr>
          <p:nvPr/>
        </p:nvCxnSpPr>
        <p:spPr>
          <a:xfrm flipV="1">
            <a:off x="6290681" y="1661518"/>
            <a:ext cx="0" cy="251011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94728C-C074-E348-9AB5-99F71E3B941C}"/>
              </a:ext>
            </a:extLst>
          </p:cNvPr>
          <p:cNvCxnSpPr>
            <a:cxnSpLocks/>
          </p:cNvCxnSpPr>
          <p:nvPr/>
        </p:nvCxnSpPr>
        <p:spPr>
          <a:xfrm flipV="1">
            <a:off x="7742996" y="1661521"/>
            <a:ext cx="0" cy="251011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964A2D-F468-CF4B-6394-C8304A371DAE}"/>
              </a:ext>
            </a:extLst>
          </p:cNvPr>
          <p:cNvCxnSpPr>
            <a:cxnSpLocks/>
          </p:cNvCxnSpPr>
          <p:nvPr/>
        </p:nvCxnSpPr>
        <p:spPr>
          <a:xfrm flipV="1">
            <a:off x="8989091" y="1661519"/>
            <a:ext cx="0" cy="251011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2164C8-CEB0-E61C-CA9D-80F91F685E1C}"/>
              </a:ext>
            </a:extLst>
          </p:cNvPr>
          <p:cNvCxnSpPr>
            <a:cxnSpLocks/>
          </p:cNvCxnSpPr>
          <p:nvPr/>
        </p:nvCxnSpPr>
        <p:spPr>
          <a:xfrm flipV="1">
            <a:off x="8388456" y="1667615"/>
            <a:ext cx="0" cy="251011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FFD790-17CF-6AC4-BE3D-2687434F5903}"/>
              </a:ext>
            </a:extLst>
          </p:cNvPr>
          <p:cNvCxnSpPr>
            <a:cxnSpLocks/>
          </p:cNvCxnSpPr>
          <p:nvPr/>
        </p:nvCxnSpPr>
        <p:spPr>
          <a:xfrm flipV="1">
            <a:off x="7026406" y="1661518"/>
            <a:ext cx="0" cy="251011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7538F93-F6CD-1499-846B-6BF44738FEED}"/>
              </a:ext>
            </a:extLst>
          </p:cNvPr>
          <p:cNvSpPr txBox="1"/>
          <p:nvPr/>
        </p:nvSpPr>
        <p:spPr>
          <a:xfrm>
            <a:off x="6958300" y="959873"/>
            <a:ext cx="28603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Rare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Restriction Enzyme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6A76CA-7B78-52E1-E581-949C2F98439E}"/>
              </a:ext>
            </a:extLst>
          </p:cNvPr>
          <p:cNvSpPr txBox="1"/>
          <p:nvPr/>
        </p:nvSpPr>
        <p:spPr>
          <a:xfrm>
            <a:off x="3766864" y="972465"/>
            <a:ext cx="29951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Restriction Enzyme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87B30E-4915-EB57-743B-96A0CB6BAD70}"/>
              </a:ext>
            </a:extLst>
          </p:cNvPr>
          <p:cNvSpPr txBox="1"/>
          <p:nvPr/>
        </p:nvSpPr>
        <p:spPr>
          <a:xfrm>
            <a:off x="494629" y="1661518"/>
            <a:ext cx="3544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Digestion by Restriction Enzymes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73E0F1-93EA-549E-7464-0807CCC69B6F}"/>
              </a:ext>
            </a:extLst>
          </p:cNvPr>
          <p:cNvSpPr txBox="1"/>
          <p:nvPr/>
        </p:nvSpPr>
        <p:spPr>
          <a:xfrm>
            <a:off x="648270" y="2670418"/>
            <a:ext cx="2998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Ligation of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and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9ED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adapters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E9312D-2AF6-BC69-2AC8-DD3168D9ACDE}"/>
              </a:ext>
            </a:extLst>
          </p:cNvPr>
          <p:cNvCxnSpPr>
            <a:cxnSpLocks/>
          </p:cNvCxnSpPr>
          <p:nvPr/>
        </p:nvCxnSpPr>
        <p:spPr>
          <a:xfrm flipV="1">
            <a:off x="5711433" y="2828406"/>
            <a:ext cx="2588817" cy="3956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0AA93D-C58B-9477-4B10-BF4FE2643FD6}"/>
              </a:ext>
            </a:extLst>
          </p:cNvPr>
          <p:cNvCxnSpPr>
            <a:cxnSpLocks/>
          </p:cNvCxnSpPr>
          <p:nvPr/>
        </p:nvCxnSpPr>
        <p:spPr>
          <a:xfrm>
            <a:off x="5164824" y="2832362"/>
            <a:ext cx="330952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7EACB6D-7C67-E59F-CA02-18A33D0CB7CF}"/>
              </a:ext>
            </a:extLst>
          </p:cNvPr>
          <p:cNvCxnSpPr>
            <a:cxnSpLocks/>
          </p:cNvCxnSpPr>
          <p:nvPr/>
        </p:nvCxnSpPr>
        <p:spPr>
          <a:xfrm>
            <a:off x="8578826" y="2833096"/>
            <a:ext cx="479448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91DD60B-BFB3-4FEE-08C1-4A99FD55DD73}"/>
              </a:ext>
            </a:extLst>
          </p:cNvPr>
          <p:cNvCxnSpPr>
            <a:cxnSpLocks/>
          </p:cNvCxnSpPr>
          <p:nvPr/>
        </p:nvCxnSpPr>
        <p:spPr>
          <a:xfrm>
            <a:off x="8329224" y="2833096"/>
            <a:ext cx="212645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F101A58-A3C4-AB9E-7A64-04BC1BF9B629}"/>
              </a:ext>
            </a:extLst>
          </p:cNvPr>
          <p:cNvCxnSpPr>
            <a:cxnSpLocks/>
          </p:cNvCxnSpPr>
          <p:nvPr/>
        </p:nvCxnSpPr>
        <p:spPr>
          <a:xfrm>
            <a:off x="4662498" y="2832362"/>
            <a:ext cx="476702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3B5075A-EAA1-FE48-1F1C-0B55F7B7CE87}"/>
              </a:ext>
            </a:extLst>
          </p:cNvPr>
          <p:cNvCxnSpPr>
            <a:cxnSpLocks/>
          </p:cNvCxnSpPr>
          <p:nvPr/>
        </p:nvCxnSpPr>
        <p:spPr>
          <a:xfrm>
            <a:off x="9077287" y="3437312"/>
            <a:ext cx="1049245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F313C6D-E755-2C2D-0F61-3E35BEBB0B86}"/>
              </a:ext>
            </a:extLst>
          </p:cNvPr>
          <p:cNvCxnSpPr>
            <a:cxnSpLocks/>
          </p:cNvCxnSpPr>
          <p:nvPr/>
        </p:nvCxnSpPr>
        <p:spPr>
          <a:xfrm>
            <a:off x="8765655" y="3437312"/>
            <a:ext cx="302667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A655B6A-7305-78EB-7D58-DE471AC1A846}"/>
              </a:ext>
            </a:extLst>
          </p:cNvPr>
          <p:cNvCxnSpPr>
            <a:cxnSpLocks/>
          </p:cNvCxnSpPr>
          <p:nvPr/>
        </p:nvCxnSpPr>
        <p:spPr>
          <a:xfrm>
            <a:off x="5727063" y="3445460"/>
            <a:ext cx="266807" cy="931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B24E829-0069-60FD-2271-9B4DB5A6F64F}"/>
              </a:ext>
            </a:extLst>
          </p:cNvPr>
          <p:cNvCxnSpPr>
            <a:cxnSpLocks/>
          </p:cNvCxnSpPr>
          <p:nvPr/>
        </p:nvCxnSpPr>
        <p:spPr>
          <a:xfrm flipV="1">
            <a:off x="5208154" y="3438609"/>
            <a:ext cx="494314" cy="1109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0FAA3C0-C8F6-1194-6F2E-8C9E43508C33}"/>
              </a:ext>
            </a:extLst>
          </p:cNvPr>
          <p:cNvCxnSpPr>
            <a:cxnSpLocks/>
          </p:cNvCxnSpPr>
          <p:nvPr/>
        </p:nvCxnSpPr>
        <p:spPr>
          <a:xfrm>
            <a:off x="3801951" y="3439352"/>
            <a:ext cx="1388274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4097D13-917A-5A15-75D4-DB99BC8A174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446334" y="1251186"/>
            <a:ext cx="109274" cy="259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5AE0738-BE85-26EC-F106-25041966E5E1}"/>
              </a:ext>
            </a:extLst>
          </p:cNvPr>
          <p:cNvCxnSpPr>
            <a:cxnSpLocks/>
          </p:cNvCxnSpPr>
          <p:nvPr/>
        </p:nvCxnSpPr>
        <p:spPr>
          <a:xfrm>
            <a:off x="8681989" y="1330927"/>
            <a:ext cx="157211" cy="188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9AD53B5-2E46-19AF-6711-A1A2EE4DB47F}"/>
              </a:ext>
            </a:extLst>
          </p:cNvPr>
          <p:cNvCxnSpPr>
            <a:cxnSpLocks/>
          </p:cNvCxnSpPr>
          <p:nvPr/>
        </p:nvCxnSpPr>
        <p:spPr>
          <a:xfrm>
            <a:off x="5522935" y="2832728"/>
            <a:ext cx="149766" cy="0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52540C4-13C9-2C37-749E-B884028F734B}"/>
              </a:ext>
            </a:extLst>
          </p:cNvPr>
          <p:cNvCxnSpPr>
            <a:cxnSpLocks/>
          </p:cNvCxnSpPr>
          <p:nvPr/>
        </p:nvCxnSpPr>
        <p:spPr>
          <a:xfrm flipH="1">
            <a:off x="3941948" y="2909269"/>
            <a:ext cx="883914" cy="404579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B5AA4D2-1324-EE67-2D20-D10A72B489A4}"/>
              </a:ext>
            </a:extLst>
          </p:cNvPr>
          <p:cNvCxnSpPr>
            <a:cxnSpLocks/>
          </p:cNvCxnSpPr>
          <p:nvPr/>
        </p:nvCxnSpPr>
        <p:spPr>
          <a:xfrm>
            <a:off x="8234980" y="2964777"/>
            <a:ext cx="530675" cy="35066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E9567DC-6534-FC3A-0685-49F95F602066}"/>
              </a:ext>
            </a:extLst>
          </p:cNvPr>
          <p:cNvCxnSpPr>
            <a:cxnSpLocks/>
          </p:cNvCxnSpPr>
          <p:nvPr/>
        </p:nvCxnSpPr>
        <p:spPr>
          <a:xfrm>
            <a:off x="5833572" y="2964777"/>
            <a:ext cx="93160" cy="34907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65B503E-2F69-9CA3-73C4-6DEB862B1FCE}"/>
              </a:ext>
            </a:extLst>
          </p:cNvPr>
          <p:cNvCxnSpPr>
            <a:cxnSpLocks/>
          </p:cNvCxnSpPr>
          <p:nvPr/>
        </p:nvCxnSpPr>
        <p:spPr>
          <a:xfrm>
            <a:off x="8916988" y="2936227"/>
            <a:ext cx="1062157" cy="37762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04A31CF-CF4F-56A8-3A70-452C67EE4D75}"/>
              </a:ext>
            </a:extLst>
          </p:cNvPr>
          <p:cNvSpPr txBox="1"/>
          <p:nvPr/>
        </p:nvSpPr>
        <p:spPr>
          <a:xfrm>
            <a:off x="6107455" y="2862313"/>
            <a:ext cx="14992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Genomic Fragment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1CBF18-B14F-769C-AB84-FFAD6E89D7D9}"/>
              </a:ext>
            </a:extLst>
          </p:cNvPr>
          <p:cNvSpPr txBox="1"/>
          <p:nvPr/>
        </p:nvSpPr>
        <p:spPr>
          <a:xfrm>
            <a:off x="4171468" y="5329384"/>
            <a:ext cx="977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Sample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A70212-EBF1-A87F-5421-FCC82AB32A38}"/>
              </a:ext>
            </a:extLst>
          </p:cNvPr>
          <p:cNvSpPr txBox="1"/>
          <p:nvPr/>
        </p:nvSpPr>
        <p:spPr>
          <a:xfrm>
            <a:off x="751120" y="4509625"/>
            <a:ext cx="29981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Single-end Sequencing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19D36E-AD70-3748-3177-9EA088D02089}"/>
              </a:ext>
            </a:extLst>
          </p:cNvPr>
          <p:cNvCxnSpPr>
            <a:cxnSpLocks/>
          </p:cNvCxnSpPr>
          <p:nvPr/>
        </p:nvCxnSpPr>
        <p:spPr>
          <a:xfrm>
            <a:off x="6012165" y="4707278"/>
            <a:ext cx="2298843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969BCB7-DA9C-D66B-44A7-D2D0A92010D7}"/>
              </a:ext>
            </a:extLst>
          </p:cNvPr>
          <p:cNvCxnSpPr>
            <a:cxnSpLocks/>
          </p:cNvCxnSpPr>
          <p:nvPr/>
        </p:nvCxnSpPr>
        <p:spPr>
          <a:xfrm>
            <a:off x="5482605" y="4707278"/>
            <a:ext cx="330952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949E384-C02A-F063-8435-C252E0E3ADFC}"/>
              </a:ext>
            </a:extLst>
          </p:cNvPr>
          <p:cNvCxnSpPr>
            <a:cxnSpLocks/>
          </p:cNvCxnSpPr>
          <p:nvPr/>
        </p:nvCxnSpPr>
        <p:spPr>
          <a:xfrm>
            <a:off x="8562284" y="4714578"/>
            <a:ext cx="479448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63F8C97-0127-9A78-870A-1DD89151E749}"/>
              </a:ext>
            </a:extLst>
          </p:cNvPr>
          <p:cNvCxnSpPr>
            <a:cxnSpLocks/>
          </p:cNvCxnSpPr>
          <p:nvPr/>
        </p:nvCxnSpPr>
        <p:spPr>
          <a:xfrm>
            <a:off x="8329385" y="4708299"/>
            <a:ext cx="212645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1395100-AB89-4DF1-DCC9-3396E3153E1E}"/>
              </a:ext>
            </a:extLst>
          </p:cNvPr>
          <p:cNvCxnSpPr>
            <a:cxnSpLocks/>
          </p:cNvCxnSpPr>
          <p:nvPr/>
        </p:nvCxnSpPr>
        <p:spPr>
          <a:xfrm>
            <a:off x="4987973" y="4707278"/>
            <a:ext cx="476702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60C72C8-0018-FB21-41BE-417654BB6607}"/>
              </a:ext>
            </a:extLst>
          </p:cNvPr>
          <p:cNvCxnSpPr>
            <a:cxnSpLocks/>
          </p:cNvCxnSpPr>
          <p:nvPr/>
        </p:nvCxnSpPr>
        <p:spPr>
          <a:xfrm>
            <a:off x="5833711" y="4709889"/>
            <a:ext cx="149766" cy="0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815A22B-795F-6796-4FF5-317ECBAFDD4A}"/>
              </a:ext>
            </a:extLst>
          </p:cNvPr>
          <p:cNvSpPr txBox="1"/>
          <p:nvPr/>
        </p:nvSpPr>
        <p:spPr>
          <a:xfrm>
            <a:off x="4177881" y="5967430"/>
            <a:ext cx="965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Sample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35DB37-E48E-062B-9753-68C14A77ED5D}"/>
              </a:ext>
            </a:extLst>
          </p:cNvPr>
          <p:cNvSpPr txBox="1"/>
          <p:nvPr/>
        </p:nvSpPr>
        <p:spPr>
          <a:xfrm>
            <a:off x="5508352" y="5244241"/>
            <a:ext cx="1139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AATCGC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D7BB02-EFD4-9808-664E-2C766042F653}"/>
              </a:ext>
            </a:extLst>
          </p:cNvPr>
          <p:cNvSpPr txBox="1"/>
          <p:nvPr/>
        </p:nvSpPr>
        <p:spPr>
          <a:xfrm>
            <a:off x="5514438" y="5462244"/>
            <a:ext cx="1139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AATCGC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7A430E-66DD-2A24-1F42-5EFFB2413D9C}"/>
              </a:ext>
            </a:extLst>
          </p:cNvPr>
          <p:cNvSpPr txBox="1"/>
          <p:nvPr/>
        </p:nvSpPr>
        <p:spPr>
          <a:xfrm>
            <a:off x="5514438" y="6088046"/>
            <a:ext cx="1139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AATCGC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6A3900-F918-343A-A3E5-78C5835EA0EE}"/>
              </a:ext>
            </a:extLst>
          </p:cNvPr>
          <p:cNvSpPr txBox="1"/>
          <p:nvPr/>
        </p:nvSpPr>
        <p:spPr>
          <a:xfrm>
            <a:off x="5526350" y="5858877"/>
            <a:ext cx="1139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AATCGC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2A45FB3-654A-AAAD-6A2D-8760AD8276A8}"/>
              </a:ext>
            </a:extLst>
          </p:cNvPr>
          <p:cNvCxnSpPr>
            <a:cxnSpLocks/>
          </p:cNvCxnSpPr>
          <p:nvPr/>
        </p:nvCxnSpPr>
        <p:spPr>
          <a:xfrm>
            <a:off x="5039546" y="4822249"/>
            <a:ext cx="5160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0FEDFA9-D84D-43E4-C91D-6B864592BC8A}"/>
              </a:ext>
            </a:extLst>
          </p:cNvPr>
          <p:cNvCxnSpPr>
            <a:cxnSpLocks/>
          </p:cNvCxnSpPr>
          <p:nvPr/>
        </p:nvCxnSpPr>
        <p:spPr>
          <a:xfrm>
            <a:off x="5931113" y="1295848"/>
            <a:ext cx="215046" cy="223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36453EA-6853-DD29-A871-2950B835A362}"/>
              </a:ext>
            </a:extLst>
          </p:cNvPr>
          <p:cNvCxnSpPr>
            <a:cxnSpLocks/>
          </p:cNvCxnSpPr>
          <p:nvPr/>
        </p:nvCxnSpPr>
        <p:spPr>
          <a:xfrm flipH="1">
            <a:off x="7111901" y="1310335"/>
            <a:ext cx="157211" cy="253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80F7C51-3440-5733-5D0A-9D50A53FB954}"/>
              </a:ext>
            </a:extLst>
          </p:cNvPr>
          <p:cNvSpPr txBox="1"/>
          <p:nvPr/>
        </p:nvSpPr>
        <p:spPr>
          <a:xfrm>
            <a:off x="8521859" y="3444125"/>
            <a:ext cx="1285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Restriction Site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91A134-628B-95E1-7A38-190AB600DAB6}"/>
              </a:ext>
            </a:extLst>
          </p:cNvPr>
          <p:cNvSpPr txBox="1"/>
          <p:nvPr/>
        </p:nvSpPr>
        <p:spPr>
          <a:xfrm>
            <a:off x="3534851" y="3500725"/>
            <a:ext cx="8845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Adaptor 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F9ED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BF873A-F875-CEED-7E5B-66A48C3E2E89}"/>
              </a:ext>
            </a:extLst>
          </p:cNvPr>
          <p:cNvSpPr txBox="1"/>
          <p:nvPr/>
        </p:nvSpPr>
        <p:spPr>
          <a:xfrm>
            <a:off x="9872977" y="3494040"/>
            <a:ext cx="9046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9ED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Adaptor 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EBF35E1-D0C0-6671-551D-21D7B437832D}"/>
              </a:ext>
            </a:extLst>
          </p:cNvPr>
          <p:cNvSpPr txBox="1"/>
          <p:nvPr/>
        </p:nvSpPr>
        <p:spPr>
          <a:xfrm>
            <a:off x="5683375" y="3476294"/>
            <a:ext cx="1214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Common Restriction Site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09FA7E4-7D03-CA1A-FE54-0C321557108D}"/>
              </a:ext>
            </a:extLst>
          </p:cNvPr>
          <p:cNvSpPr txBox="1"/>
          <p:nvPr/>
        </p:nvSpPr>
        <p:spPr>
          <a:xfrm>
            <a:off x="4781860" y="3499778"/>
            <a:ext cx="10314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Multiplexing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Barcode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3BE90E2-6BF8-7A3C-B963-D1EE567D6679}"/>
              </a:ext>
            </a:extLst>
          </p:cNvPr>
          <p:cNvSpPr/>
          <p:nvPr/>
        </p:nvSpPr>
        <p:spPr>
          <a:xfrm>
            <a:off x="6204104" y="5135817"/>
            <a:ext cx="143356" cy="14717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A528B91-C180-5AF1-F5D8-EB6A53CE5FA6}"/>
              </a:ext>
            </a:extLst>
          </p:cNvPr>
          <p:cNvSpPr txBox="1"/>
          <p:nvPr/>
        </p:nvSpPr>
        <p:spPr>
          <a:xfrm>
            <a:off x="751120" y="5329384"/>
            <a:ext cx="2419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Single Nucleotide Polymorphisms 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SNP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s)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D4FE866-0801-58CB-54E1-21851464A065}"/>
              </a:ext>
            </a:extLst>
          </p:cNvPr>
          <p:cNvCxnSpPr>
            <a:cxnSpLocks/>
          </p:cNvCxnSpPr>
          <p:nvPr/>
        </p:nvCxnSpPr>
        <p:spPr>
          <a:xfrm flipH="1">
            <a:off x="5609393" y="2045222"/>
            <a:ext cx="556387" cy="657637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8D4B9D5-52E5-0A7C-C18C-3958D8DAB599}"/>
              </a:ext>
            </a:extLst>
          </p:cNvPr>
          <p:cNvCxnSpPr>
            <a:cxnSpLocks/>
          </p:cNvCxnSpPr>
          <p:nvPr/>
        </p:nvCxnSpPr>
        <p:spPr>
          <a:xfrm>
            <a:off x="7150828" y="2038035"/>
            <a:ext cx="1237628" cy="60702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0487594-CBFC-C4C5-12F5-FBC1408805F0}"/>
              </a:ext>
            </a:extLst>
          </p:cNvPr>
          <p:cNvSpPr txBox="1"/>
          <p:nvPr/>
        </p:nvSpPr>
        <p:spPr>
          <a:xfrm>
            <a:off x="5520394" y="6330522"/>
            <a:ext cx="1139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AATCGC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1A19F-25DF-E224-6483-B8EE716CA828}"/>
              </a:ext>
            </a:extLst>
          </p:cNvPr>
          <p:cNvSpPr txBox="1"/>
          <p:nvPr/>
        </p:nvSpPr>
        <p:spPr>
          <a:xfrm>
            <a:off x="9822801" y="1851135"/>
            <a:ext cx="14992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Genomic Fragment</a:t>
            </a:r>
          </a:p>
        </p:txBody>
      </p:sp>
    </p:spTree>
    <p:extLst>
      <p:ext uri="{BB962C8B-B14F-4D97-AF65-F5344CB8AC3E}">
        <p14:creationId xmlns:p14="http://schemas.microsoft.com/office/powerpoint/2010/main" val="24574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03DE3F-BC7C-D7BC-13C8-41F57BBFBDD2}"/>
              </a:ext>
            </a:extLst>
          </p:cNvPr>
          <p:cNvSpPr txBox="1"/>
          <p:nvPr/>
        </p:nvSpPr>
        <p:spPr>
          <a:xfrm>
            <a:off x="217432" y="1052556"/>
            <a:ext cx="1131476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24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MulitQC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adegenet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hierfstats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vcfR</a:t>
            </a:r>
            <a:endParaRPr lang="en-US" sz="2400" dirty="0"/>
          </a:p>
          <a:p>
            <a:pPr lvl="1"/>
            <a:endParaRPr lang="en-US" sz="2400" dirty="0"/>
          </a:p>
          <a:p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91C1A9-1ECD-586A-5D1C-4B247A8FB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8581"/>
            <a:ext cx="6235871" cy="438085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Methods: post-sequencing</a:t>
            </a:r>
          </a:p>
        </p:txBody>
      </p:sp>
    </p:spTree>
    <p:extLst>
      <p:ext uri="{BB962C8B-B14F-4D97-AF65-F5344CB8AC3E}">
        <p14:creationId xmlns:p14="http://schemas.microsoft.com/office/powerpoint/2010/main" val="205179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29B0B-B017-2341-87A9-4FDFFE40D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62" y="168356"/>
            <a:ext cx="10515600" cy="1325563"/>
          </a:xfrm>
        </p:spPr>
        <p:txBody>
          <a:bodyPr/>
          <a:lstStyle/>
          <a:p>
            <a:r>
              <a:rPr lang="en-US" dirty="0" err="1"/>
              <a:t>fastQC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MulitQC</a:t>
            </a:r>
            <a:r>
              <a:rPr lang="en-US" dirty="0"/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3A1CF-314D-172F-170A-DD31E6D3C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9151188"/>
              </p:ext>
            </p:extLst>
          </p:nvPr>
        </p:nvGraphicFramePr>
        <p:xfrm>
          <a:off x="237281" y="1388962"/>
          <a:ext cx="11314252" cy="4633833"/>
        </p:xfrm>
        <a:graphic>
          <a:graphicData uri="http://schemas.openxmlformats.org/drawingml/2006/table">
            <a:tbl>
              <a:tblPr/>
              <a:tblGrid>
                <a:gridCol w="2958264">
                  <a:extLst>
                    <a:ext uri="{9D8B030D-6E8A-4147-A177-3AD203B41FA5}">
                      <a16:colId xmlns:a16="http://schemas.microsoft.com/office/drawing/2014/main" val="3136619199"/>
                    </a:ext>
                  </a:extLst>
                </a:gridCol>
                <a:gridCol w="1567438">
                  <a:extLst>
                    <a:ext uri="{9D8B030D-6E8A-4147-A177-3AD203B41FA5}">
                      <a16:colId xmlns:a16="http://schemas.microsoft.com/office/drawing/2014/main" val="2711795837"/>
                    </a:ext>
                  </a:extLst>
                </a:gridCol>
                <a:gridCol w="2262850">
                  <a:extLst>
                    <a:ext uri="{9D8B030D-6E8A-4147-A177-3AD203B41FA5}">
                      <a16:colId xmlns:a16="http://schemas.microsoft.com/office/drawing/2014/main" val="3683449987"/>
                    </a:ext>
                  </a:extLst>
                </a:gridCol>
                <a:gridCol w="2262850">
                  <a:extLst>
                    <a:ext uri="{9D8B030D-6E8A-4147-A177-3AD203B41FA5}">
                      <a16:colId xmlns:a16="http://schemas.microsoft.com/office/drawing/2014/main" val="2247954133"/>
                    </a:ext>
                  </a:extLst>
                </a:gridCol>
                <a:gridCol w="2262850">
                  <a:extLst>
                    <a:ext uri="{9D8B030D-6E8A-4147-A177-3AD203B41FA5}">
                      <a16:colId xmlns:a16="http://schemas.microsoft.com/office/drawing/2014/main" val="1389693904"/>
                    </a:ext>
                  </a:extLst>
                </a:gridCol>
              </a:tblGrid>
              <a:tr h="31808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dirty="0">
                          <a:solidFill>
                            <a:srgbClr val="1CA8DD"/>
                          </a:solidFill>
                          <a:effectLst/>
                          <a:highlight>
                            <a:srgbClr val="EDEDED"/>
                          </a:highlight>
                        </a:rPr>
                        <a:t>Sequence File</a:t>
                      </a:r>
                    </a:p>
                  </a:txBody>
                  <a:tcPr marL="24667" marR="24667" marT="24667" marB="246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Dups</a:t>
                      </a:r>
                    </a:p>
                  </a:txBody>
                  <a:tcPr marL="24667" marR="24667" marT="24667" marB="246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dirty="0">
                          <a:effectLst/>
                          <a:highlight>
                            <a:srgbClr val="FFFFFF"/>
                          </a:highlight>
                        </a:rPr>
                        <a:t>GC</a:t>
                      </a:r>
                    </a:p>
                  </a:txBody>
                  <a:tcPr marL="24667" marR="24667" marT="24667" marB="246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dirty="0">
                          <a:effectLst/>
                          <a:highlight>
                            <a:srgbClr val="FFFFFF"/>
                          </a:highlight>
                        </a:rPr>
                        <a:t>Length</a:t>
                      </a:r>
                    </a:p>
                  </a:txBody>
                  <a:tcPr marL="24667" marR="24667" marT="24667" marB="246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>
                          <a:effectLst/>
                          <a:highlight>
                            <a:srgbClr val="FFFFFF"/>
                          </a:highlight>
                        </a:rPr>
                        <a:t>Seqs</a:t>
                      </a:r>
                    </a:p>
                  </a:txBody>
                  <a:tcPr marL="24667" marR="24667" marT="24667" marB="2466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421055"/>
                  </a:ext>
                </a:extLst>
              </a:tr>
              <a:tr h="42244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L2203_01_S1_L002_R1_001</a:t>
                      </a:r>
                    </a:p>
                  </a:txBody>
                  <a:tcPr marL="24667" marR="24667" marT="24667" marB="24667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91.8%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46.0%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132bp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181.3M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185389"/>
                  </a:ext>
                </a:extLst>
              </a:tr>
              <a:tr h="42244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L2203_02B_S2_L002_R1_001</a:t>
                      </a:r>
                    </a:p>
                  </a:txBody>
                  <a:tcPr marL="24667" marR="24667" marT="24667" marB="24667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93.3%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41.0%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132bp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157.7M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95571"/>
                  </a:ext>
                </a:extLst>
              </a:tr>
              <a:tr h="42244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L2203_08_S3_L002_R1_001</a:t>
                      </a:r>
                    </a:p>
                  </a:txBody>
                  <a:tcPr marL="24667" marR="24667" marT="24667" marB="24667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91.0%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39.0%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132bp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95.1M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718080"/>
                  </a:ext>
                </a:extLst>
              </a:tr>
              <a:tr h="6085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L2209-01_S1_L002_R1_001</a:t>
                      </a:r>
                    </a:p>
                  </a:txBody>
                  <a:tcPr marL="24667" marR="24667" marT="24667" marB="24667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90.7%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43.0%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132bp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140.0M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790415"/>
                  </a:ext>
                </a:extLst>
              </a:tr>
              <a:tr h="6085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L2209-02_S2_L002_R1_001</a:t>
                      </a:r>
                    </a:p>
                  </a:txBody>
                  <a:tcPr marL="24667" marR="24667" marT="24667" marB="24667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91.1%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43.0%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132bp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149.4M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58082"/>
                  </a:ext>
                </a:extLst>
              </a:tr>
              <a:tr h="6085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L2210-01_S3_L001_R1_001</a:t>
                      </a:r>
                    </a:p>
                  </a:txBody>
                  <a:tcPr marL="24667" marR="24667" marT="24667" marB="24667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92.6%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38.0%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132bp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124.5M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657690"/>
                  </a:ext>
                </a:extLst>
              </a:tr>
              <a:tr h="6085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L2211-01_S1_L001_R1_001</a:t>
                      </a:r>
                    </a:p>
                  </a:txBody>
                  <a:tcPr marL="24667" marR="24667" marT="24667" marB="24667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94.2%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39.0%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132bp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144.4M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883560"/>
                  </a:ext>
                </a:extLst>
              </a:tr>
              <a:tr h="6085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L2211-02_S2_L001_R1_001</a:t>
                      </a:r>
                    </a:p>
                  </a:txBody>
                  <a:tcPr marL="24667" marR="24667" marT="24667" marB="24667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97.1%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39.0%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132bp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165.3M</a:t>
                      </a:r>
                    </a:p>
                  </a:txBody>
                  <a:tcPr marL="59202" marR="59202" marT="29601" marB="2960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784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713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3B24D-F8CA-95CC-2AA2-0073713C9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DAA7-3061-9CB8-DE01-8CD85A34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62" y="168356"/>
            <a:ext cx="10515600" cy="1325563"/>
          </a:xfrm>
        </p:spPr>
        <p:txBody>
          <a:bodyPr/>
          <a:lstStyle/>
          <a:p>
            <a:r>
              <a:rPr lang="en-US" dirty="0" err="1"/>
              <a:t>fastQC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MulitQC</a:t>
            </a:r>
            <a:r>
              <a:rPr lang="en-US" dirty="0"/>
              <a:t> </a:t>
            </a:r>
          </a:p>
        </p:txBody>
      </p:sp>
      <p:pic>
        <p:nvPicPr>
          <p:cNvPr id="7" name="Content Placeholder 6" descr="A graph of a number of scores&#10;&#10;Description automatically generated with medium confidence">
            <a:extLst>
              <a:ext uri="{FF2B5EF4-FFF2-40B4-BE49-F238E27FC236}">
                <a16:creationId xmlns:a16="http://schemas.microsoft.com/office/drawing/2014/main" id="{7FB7F110-4E84-0239-6AB2-4D97F9C89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0110"/>
            <a:ext cx="6001407" cy="4000938"/>
          </a:xfrm>
        </p:spPr>
      </p:pic>
      <p:pic>
        <p:nvPicPr>
          <p:cNvPr id="9" name="Picture 8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EAF90E66-CE32-F422-483D-8D8283C43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64939"/>
            <a:ext cx="5943642" cy="396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89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2802-3890-5713-ECB2-C22CEA2E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2" y="159443"/>
            <a:ext cx="10515600" cy="1325563"/>
          </a:xfrm>
        </p:spPr>
        <p:txBody>
          <a:bodyPr/>
          <a:lstStyle/>
          <a:p>
            <a:r>
              <a:rPr lang="en-US" dirty="0"/>
              <a:t>STACKS v2.65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5B4C0-0B9C-6ADD-4287-E61988F63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2" y="1108038"/>
            <a:ext cx="5615492" cy="5384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Assembles loci from short-read sequences derived from RAD-seq protocols</a:t>
            </a:r>
          </a:p>
          <a:p>
            <a:r>
              <a:rPr lang="en-US" sz="1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</a:t>
            </a:r>
            <a:r>
              <a:rPr lang="en-US" sz="18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radtags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cleans and demultiplexes samples</a:t>
            </a:r>
          </a:p>
          <a:p>
            <a:r>
              <a:rPr lang="en-US" sz="1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ustacks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builds loci from all individuals</a:t>
            </a:r>
          </a:p>
          <a:p>
            <a:r>
              <a:rPr lang="en-US" sz="1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cstacks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800" dirty="0"/>
              <a:t>attempts to match loci across select samples to build a catalog </a:t>
            </a:r>
          </a:p>
          <a:p>
            <a:r>
              <a:rPr lang="en-US" sz="1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sstacks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matches samples to a catalog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tsv2bam – sorts by RAD locus</a:t>
            </a:r>
          </a:p>
          <a:p>
            <a:r>
              <a:rPr lang="en-US" sz="1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gstacks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calls genotypes and phases SNPs into haplotypes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bwa mem – aligns consensus sequences in catalog to reference genome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alignment – integrates the locus alignment coords into the de novo catalog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populations – filters and exports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C471A9-DEF8-3507-5DC5-C76051D7EF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08" b="5325"/>
          <a:stretch/>
        </p:blipFill>
        <p:spPr>
          <a:xfrm>
            <a:off x="5970495" y="139478"/>
            <a:ext cx="6210748" cy="655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54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2EA5-7FCD-53A3-A249-BF9E43C6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STACKS – </a:t>
            </a:r>
            <a:r>
              <a:rPr lang="en-US" b="1" dirty="0"/>
              <a:t>process </a:t>
            </a:r>
            <a:r>
              <a:rPr lang="en-US" b="1" dirty="0" err="1"/>
              <a:t>radtags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99387-FFB2-E129-3156-C86D3B911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Raw Illumina sequence files are demultiplexed and filtered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Sequence files for each sample is created from the raw file based on the index and barcode</a:t>
            </a:r>
          </a:p>
          <a:p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Reads with uncalled bases and raw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phred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quality scores &lt; 30 were discarded</a:t>
            </a:r>
          </a:p>
          <a:p>
            <a:pPr lvl="1"/>
            <a:r>
              <a:rPr lang="en-U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the probability of an incorrect call for that base is 1 in 1000 and the base call accuracy is 99.9%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ecover barcodes and RAD-TAG cut sites with 2 bp mismatches</a:t>
            </a:r>
            <a:endParaRPr lang="en-US" sz="2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F243E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Overall,</a:t>
            </a:r>
            <a:r>
              <a:rPr lang="en-US" sz="2400" b="0" i="0" u="none" strike="noStrike" dirty="0">
                <a:solidFill>
                  <a:srgbClr val="0F243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 1,157,738,121 </a:t>
            </a:r>
            <a:r>
              <a:rPr lang="en-US" sz="2400" i="0" u="none" strike="noStrike" dirty="0">
                <a:solidFill>
                  <a:srgbClr val="0F243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reads</a:t>
            </a:r>
            <a:r>
              <a:rPr lang="en-US" sz="2400" b="0" i="0" u="none" strike="noStrike" dirty="0">
                <a:solidFill>
                  <a:srgbClr val="0F243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, of which 1,108,233,323 (</a:t>
            </a:r>
            <a:r>
              <a:rPr lang="en-US" sz="2400" b="1" i="0" u="none" strike="noStrike" dirty="0">
                <a:solidFill>
                  <a:srgbClr val="0F243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95.72</a:t>
            </a:r>
            <a:r>
              <a:rPr lang="en-US" sz="2400" b="0" i="0" u="none" strike="noStrike" dirty="0">
                <a:solidFill>
                  <a:srgbClr val="0F243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%) were </a:t>
            </a:r>
            <a:r>
              <a:rPr lang="en-US" sz="2400" b="1" i="0" u="none" strike="noStrike" dirty="0">
                <a:solidFill>
                  <a:srgbClr val="0F243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retained</a:t>
            </a:r>
            <a:r>
              <a:rPr lang="en-US" sz="2400" b="0" i="0" u="none" strike="noStrike" dirty="0">
                <a:solidFill>
                  <a:srgbClr val="0F243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 after filtering .  </a:t>
            </a:r>
            <a:endParaRPr lang="en-US" sz="3600" b="0" dirty="0">
              <a:effectLst/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0986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BCFE7-5787-D193-77AD-FEFD243B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DB111-4840-8020-0812-B47D7669D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2" y="159443"/>
            <a:ext cx="10515600" cy="1325563"/>
          </a:xfrm>
        </p:spPr>
        <p:txBody>
          <a:bodyPr/>
          <a:lstStyle/>
          <a:p>
            <a:r>
              <a:rPr lang="en-US" dirty="0"/>
              <a:t>STACKS v2.65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58C5-E08F-8B3E-658A-B48B2058D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2" y="1108038"/>
            <a:ext cx="5615492" cy="5384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Assembles loci from short-read sequences derived from RAD-seq protocols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</a:t>
            </a:r>
            <a:r>
              <a:rPr lang="en-US" sz="1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radtags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cleans and demultiplexes samples</a:t>
            </a:r>
          </a:p>
          <a:p>
            <a:r>
              <a:rPr lang="en-US" sz="18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ustacks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builds loci from all individuals</a:t>
            </a:r>
          </a:p>
          <a:p>
            <a:r>
              <a:rPr lang="en-US" sz="18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cstacks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800" dirty="0"/>
              <a:t>select samples to build a catalog </a:t>
            </a:r>
          </a:p>
          <a:p>
            <a:r>
              <a:rPr lang="en-US" sz="18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sstacks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matches samples to a catalog</a:t>
            </a:r>
          </a:p>
          <a:p>
            <a:r>
              <a:rPr lang="en-US" sz="1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tsv2bam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sorts by RAD locus</a:t>
            </a:r>
          </a:p>
          <a:p>
            <a:r>
              <a:rPr lang="en-US" sz="18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gstacks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calls genotypes and phases SNPs into haplotypes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bwa mem – aligns consensus sequences in catalog to reference genome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alignment – integrates the locus alignment coords into the de novo catalog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populations – filters and exports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773F4A-6112-9F49-5506-F7832C10A4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08" b="5325"/>
          <a:stretch/>
        </p:blipFill>
        <p:spPr>
          <a:xfrm>
            <a:off x="5970495" y="139478"/>
            <a:ext cx="6210748" cy="655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99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34271-AEB2-245E-ABBC-D24D4451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EBBA83-A17A-CE03-7DCE-0C7FADC09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7906"/>
            <a:ext cx="12192000" cy="467370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A6C4AE4-0A8B-0038-4CCC-A8B5CC6A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2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1954-3F20-88BC-18E9-6C55EF41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C447-8EE5-191C-E681-F0A43E801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69301" cy="1325563"/>
          </a:xfrm>
        </p:spPr>
        <p:txBody>
          <a:bodyPr/>
          <a:lstStyle/>
          <a:p>
            <a:r>
              <a:rPr lang="en-US" dirty="0"/>
              <a:t>STACKS 2.65 – </a:t>
            </a:r>
            <a:r>
              <a:rPr lang="en-US" i="1" dirty="0"/>
              <a:t>bwa mem/integrated alignment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0BB44-085E-877B-13BE-9E3820193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900" y="1690688"/>
            <a:ext cx="11017898" cy="4674734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bwa mem – aligns consensus sequences in catalog to reference genome &amp; 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integrates the locus alignment coordinates into the de novo catalog</a:t>
            </a:r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index for reference genome</a:t>
            </a:r>
          </a:p>
          <a:p>
            <a:pPr lvl="1"/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bwa index /home/lcartmell/genome/GCF_000648675.2/GCF_000648675.2_Clec_2.1_genomic.fna</a:t>
            </a:r>
          </a:p>
          <a:p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 de novo loci to the reference genome</a:t>
            </a:r>
          </a:p>
          <a:p>
            <a:pPr lvl="1"/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bwa mem /home/lcartmell/genome/GCF_000648675.2/GCF_000648675.2_Clec_2.1_genomic.fna ./catalog.fa.gz |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samtools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view -b |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samtools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sort &gt; ./integrated/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catalog_loci.bam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 the mapped alignment</a:t>
            </a:r>
          </a:p>
          <a:p>
            <a:pPr lvl="1"/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samtools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index /scratch/lcartmell/stacks_2014/integrated/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catalog_loci.bam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 loci not aligned</a:t>
            </a:r>
          </a:p>
          <a:p>
            <a:pPr lvl="1"/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touch ./integrated/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unmapped.bam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samtools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view -b -f 4 ./integrated/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catalog_loci.bam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./integrated/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unmapped.bam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 to </a:t>
            </a:r>
            <a:r>
              <a:rPr 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touch ./integrated/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unmapped.fasta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samtools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-f 4 ./integrated/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unmapped.bam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./integrated/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unmapped.fasta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alignment – integrates the locus alignment coords into the de novo catalog</a:t>
            </a:r>
          </a:p>
        </p:txBody>
      </p:sp>
    </p:spTree>
    <p:extLst>
      <p:ext uri="{BB962C8B-B14F-4D97-AF65-F5344CB8AC3E}">
        <p14:creationId xmlns:p14="http://schemas.microsoft.com/office/powerpoint/2010/main" val="2337841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16DB3-FECF-0D5F-C14A-2F97576D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9AA83-0B5F-11EB-80F5-63C4A2761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69301" cy="1325563"/>
          </a:xfrm>
        </p:spPr>
        <p:txBody>
          <a:bodyPr/>
          <a:lstStyle/>
          <a:p>
            <a:r>
              <a:rPr lang="en-US" dirty="0"/>
              <a:t>STACKS 2.65 – </a:t>
            </a:r>
            <a:r>
              <a:rPr lang="en-US" i="1" dirty="0"/>
              <a:t>bwa mem/integrated alignment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43BFB-BC61-2D17-D873-25D9E860D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2014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690,485 total alignments: </a:t>
            </a:r>
            <a:r>
              <a:rPr lang="en-US" sz="1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133,780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mapped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546509 unmapped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60680 loci filtered; 41401 due to mapping quality (</a:t>
            </a:r>
            <a:r>
              <a:rPr lang="en-US" sz="1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mapq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19279 due to alignment coverage; </a:t>
            </a:r>
            <a:r>
              <a:rPr lang="en-US" sz="1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73,100 loci remain</a:t>
            </a:r>
            <a:endParaRPr lang="en-US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489,459 total alignments: </a:t>
            </a:r>
            <a:r>
              <a:rPr lang="en-US" sz="1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74,889 mapped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409,779 unmapped; 4791 supplementary alignments.</a:t>
            </a:r>
          </a:p>
          <a:p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31569 loci filtered; 22750 due to mapping quality (</a:t>
            </a:r>
            <a:r>
              <a:rPr lang="en-US" sz="1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mapq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8819 due to alignment coverage; </a:t>
            </a:r>
            <a:r>
              <a:rPr lang="en-US" sz="1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43,320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loci remain.</a:t>
            </a:r>
          </a:p>
          <a:p>
            <a:endParaRPr lang="en-US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760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48C7-07BC-A527-3C3A-4D763544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STACKS 2.65 - </a:t>
            </a:r>
            <a:r>
              <a:rPr lang="en-US" i="1" dirty="0"/>
              <a:t>populations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ED92A-4E14-9C74-64DB-39613EC21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used to filter the data and export loci for downstream analyses. </a:t>
            </a:r>
          </a:p>
          <a:p>
            <a:pPr lvl="1">
              <a:spcBef>
                <a:spcPts val="0"/>
              </a:spcBef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minimum of 2 populations and in 70% of individuals within a subpopulation</a:t>
            </a:r>
          </a:p>
          <a:p>
            <a:pPr lvl="1">
              <a:spcBef>
                <a:spcPts val="0"/>
              </a:spcBef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minimum allele count of 3</a:t>
            </a:r>
          </a:p>
          <a:p>
            <a:pPr lvl="1">
              <a:spcBef>
                <a:spcPts val="0"/>
              </a:spcBef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maximum heterozygosity of 0.5</a:t>
            </a:r>
          </a:p>
          <a:p>
            <a:pPr lvl="1">
              <a:spcBef>
                <a:spcPts val="0"/>
              </a:spcBef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 single, random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snp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was kept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exports a </a:t>
            </a:r>
            <a:r>
              <a:rPr lang="en-US" sz="2400" dirty="0" err="1"/>
              <a:t>genepop</a:t>
            </a:r>
            <a:r>
              <a:rPr lang="en-US" sz="2400" dirty="0"/>
              <a:t> file</a:t>
            </a:r>
          </a:p>
          <a:p>
            <a:pPr>
              <a:spcBef>
                <a:spcPts val="0"/>
              </a:spcBef>
            </a:pPr>
            <a:endParaRPr lang="en-US" sz="2400" b="0" i="0" u="none" strike="noStrike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482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676D3-2F2C-8378-8317-5751DE09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E7EA-A61D-5915-203E-7972ED303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Now to R!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A6D39E-25BD-15A2-6E4F-26478E2D3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gpop.x</a:t>
            </a:r>
            <a:r>
              <a:rPr lang="en-US" dirty="0"/>
              <a:t> &lt;- </a:t>
            </a:r>
            <a:r>
              <a:rPr lang="en-US" dirty="0" err="1"/>
              <a:t>read.genepop</a:t>
            </a:r>
            <a:r>
              <a:rPr lang="en-US" dirty="0"/>
              <a:t>("</a:t>
            </a:r>
            <a:r>
              <a:rPr lang="en-US" dirty="0" err="1"/>
              <a:t>populations.snps.gen</a:t>
            </a:r>
            <a:r>
              <a:rPr lang="en-US" dirty="0"/>
              <a:t>", </a:t>
            </a:r>
            <a:r>
              <a:rPr lang="en-US" dirty="0" err="1"/>
              <a:t>ncode</a:t>
            </a:r>
            <a:r>
              <a:rPr lang="en-US" dirty="0"/>
              <a:t> = 2)</a:t>
            </a:r>
          </a:p>
          <a:p>
            <a:r>
              <a:rPr lang="en-US" dirty="0"/>
              <a:t>rename populations</a:t>
            </a:r>
          </a:p>
          <a:p>
            <a:pPr lvl="1"/>
            <a:r>
              <a:rPr lang="en-US" dirty="0" err="1"/>
              <a:t>current_pops</a:t>
            </a:r>
            <a:r>
              <a:rPr lang="en-US" dirty="0"/>
              <a:t> &lt;- pop(</a:t>
            </a:r>
            <a:r>
              <a:rPr lang="en-US" dirty="0" err="1"/>
              <a:t>gpop.x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popmap_10x_2021 &lt;- </a:t>
            </a:r>
            <a:r>
              <a:rPr lang="en-US" dirty="0" err="1"/>
              <a:t>read_delim</a:t>
            </a:r>
            <a:r>
              <a:rPr lang="en-US" dirty="0"/>
              <a:t>("popmap_2021_10x.txt", </a:t>
            </a:r>
            <a:r>
              <a:rPr lang="en-US" dirty="0" err="1"/>
              <a:t>delim</a:t>
            </a:r>
            <a:r>
              <a:rPr lang="en-US" dirty="0"/>
              <a:t> = "\t", header=FALSE)</a:t>
            </a:r>
          </a:p>
          <a:p>
            <a:pPr lvl="1"/>
            <a:r>
              <a:rPr lang="en-US" dirty="0" err="1"/>
              <a:t>pop_id</a:t>
            </a:r>
            <a:r>
              <a:rPr lang="en-US" dirty="0"/>
              <a:t> &lt;- (popmap_10x_2021[,2])</a:t>
            </a:r>
          </a:p>
          <a:p>
            <a:pPr lvl="1"/>
            <a:r>
              <a:rPr lang="en-US" dirty="0" err="1"/>
              <a:t>pop_id_vector</a:t>
            </a:r>
            <a:r>
              <a:rPr lang="en-US" dirty="0"/>
              <a:t> &lt;- pop_id$X2</a:t>
            </a:r>
          </a:p>
          <a:p>
            <a:pPr lvl="1"/>
            <a:r>
              <a:rPr lang="en-US" dirty="0"/>
              <a:t>pop(</a:t>
            </a:r>
            <a:r>
              <a:rPr lang="en-US" dirty="0" err="1"/>
              <a:t>gpop.x</a:t>
            </a:r>
            <a:r>
              <a:rPr lang="en-US" dirty="0"/>
              <a:t>) &lt;- </a:t>
            </a:r>
            <a:r>
              <a:rPr lang="en-US" dirty="0" err="1"/>
              <a:t>pop_id_vector</a:t>
            </a:r>
            <a:endParaRPr lang="en-US" dirty="0"/>
          </a:p>
          <a:p>
            <a:r>
              <a:rPr lang="en-US" dirty="0"/>
              <a:t>specify ploidy</a:t>
            </a:r>
          </a:p>
          <a:p>
            <a:pPr lvl="1"/>
            <a:r>
              <a:rPr lang="en-US" dirty="0"/>
              <a:t>ploidy(</a:t>
            </a:r>
            <a:r>
              <a:rPr lang="en-US" dirty="0" err="1"/>
              <a:t>gpop.x</a:t>
            </a:r>
            <a:r>
              <a:rPr lang="en-US" dirty="0"/>
              <a:t>) &lt;- 2</a:t>
            </a:r>
          </a:p>
          <a:p>
            <a:r>
              <a:rPr lang="en-US" dirty="0"/>
              <a:t>check the class, </a:t>
            </a:r>
            <a:r>
              <a:rPr lang="en-US" dirty="0" err="1"/>
              <a:t>adegenet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class(</a:t>
            </a:r>
            <a:r>
              <a:rPr lang="en-US" dirty="0" err="1"/>
              <a:t>gpop.x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29510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6ABEA-213D-1690-0309-65697942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800A-0BD2-FD67-2919-EB4001D8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Genepop</a:t>
            </a:r>
            <a:r>
              <a:rPr lang="en-US" i="1" dirty="0"/>
              <a:t> files – </a:t>
            </a:r>
            <a:r>
              <a:rPr lang="en-US" i="1" dirty="0" err="1"/>
              <a:t>adegenet</a:t>
            </a:r>
            <a:r>
              <a:rPr lang="en-US" i="1" dirty="0"/>
              <a:t>/</a:t>
            </a:r>
            <a:r>
              <a:rPr lang="en-US" i="1" dirty="0" err="1"/>
              <a:t>hierfstat</a:t>
            </a:r>
            <a:endParaRPr lang="en-US" i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31296-AEFF-BFB6-5546-2C9616D53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stratification to </a:t>
            </a:r>
            <a:r>
              <a:rPr lang="en-US" dirty="0" err="1"/>
              <a:t>genind</a:t>
            </a:r>
            <a:r>
              <a:rPr lang="en-US" dirty="0"/>
              <a:t> for </a:t>
            </a:r>
            <a:r>
              <a:rPr lang="en-US" dirty="0" err="1"/>
              <a:t>hierfstat</a:t>
            </a:r>
            <a:endParaRPr lang="en-US" dirty="0"/>
          </a:p>
          <a:p>
            <a:pPr lvl="1"/>
            <a:r>
              <a:rPr lang="en-US" dirty="0"/>
              <a:t>strata(</a:t>
            </a:r>
            <a:r>
              <a:rPr lang="en-US" dirty="0" err="1"/>
              <a:t>gpop.x</a:t>
            </a:r>
            <a:r>
              <a:rPr lang="en-US" dirty="0"/>
              <a:t>) &lt;- </a:t>
            </a:r>
            <a:r>
              <a:rPr lang="en-US" dirty="0" err="1"/>
              <a:t>hier_WE_YRprint</a:t>
            </a:r>
            <a:r>
              <a:rPr lang="en-US" dirty="0"/>
              <a:t>(</a:t>
            </a:r>
            <a:r>
              <a:rPr lang="en-US" dirty="0" err="1"/>
              <a:t>gpop.x</a:t>
            </a:r>
            <a:r>
              <a:rPr lang="en-US" dirty="0"/>
              <a:t>)</a:t>
            </a:r>
          </a:p>
          <a:p>
            <a:r>
              <a:rPr lang="en-US" dirty="0"/>
              <a:t>view strata</a:t>
            </a:r>
          </a:p>
          <a:p>
            <a:pPr lvl="1"/>
            <a:r>
              <a:rPr lang="en-US" dirty="0"/>
              <a:t>strata(</a:t>
            </a:r>
            <a:r>
              <a:rPr lang="en-US" dirty="0" err="1"/>
              <a:t>gpop.x</a:t>
            </a:r>
            <a:r>
              <a:rPr lang="en-US" dirty="0"/>
              <a:t>)</a:t>
            </a:r>
          </a:p>
          <a:p>
            <a:r>
              <a:rPr lang="en-US" dirty="0"/>
              <a:t>check that its </a:t>
            </a:r>
            <a:r>
              <a:rPr lang="en-US" dirty="0" err="1"/>
              <a:t>genind</a:t>
            </a:r>
            <a:r>
              <a:rPr lang="en-US" dirty="0"/>
              <a:t>, </a:t>
            </a:r>
            <a:r>
              <a:rPr lang="en-US" dirty="0" err="1"/>
              <a:t>adegenet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class(</a:t>
            </a:r>
            <a:r>
              <a:rPr lang="en-US" dirty="0" err="1"/>
              <a:t>gpop.x</a:t>
            </a:r>
            <a:r>
              <a:rPr lang="en-US" dirty="0"/>
              <a:t>) // </a:t>
            </a:r>
            <a:r>
              <a:rPr lang="en-US" dirty="0" err="1"/>
              <a:t>is.genind</a:t>
            </a:r>
            <a:r>
              <a:rPr lang="en-US" dirty="0"/>
              <a:t>(</a:t>
            </a:r>
            <a:r>
              <a:rPr lang="en-US" dirty="0" err="1"/>
              <a:t>gpop.x</a:t>
            </a:r>
            <a:r>
              <a:rPr lang="en-US" dirty="0"/>
              <a:t>)</a:t>
            </a:r>
          </a:p>
          <a:p>
            <a:r>
              <a:rPr lang="en-US" dirty="0"/>
              <a:t>convert </a:t>
            </a:r>
            <a:r>
              <a:rPr lang="en-US" dirty="0" err="1"/>
              <a:t>genind</a:t>
            </a:r>
            <a:r>
              <a:rPr lang="en-US" dirty="0"/>
              <a:t> to </a:t>
            </a:r>
            <a:r>
              <a:rPr lang="en-US" dirty="0" err="1"/>
              <a:t>hierfstat</a:t>
            </a:r>
            <a:endParaRPr lang="en-US" dirty="0"/>
          </a:p>
          <a:p>
            <a:pPr lvl="1"/>
            <a:r>
              <a:rPr lang="en-US" dirty="0" err="1"/>
              <a:t>fstat</a:t>
            </a:r>
            <a:r>
              <a:rPr lang="en-US" dirty="0"/>
              <a:t> &lt;- genind2hierfstat(</a:t>
            </a:r>
            <a:r>
              <a:rPr lang="en-US" dirty="0" err="1"/>
              <a:t>gpop.x</a:t>
            </a:r>
            <a:r>
              <a:rPr lang="en-US" dirty="0"/>
              <a:t>)str(</a:t>
            </a:r>
            <a:r>
              <a:rPr lang="en-US" dirty="0" err="1"/>
              <a:t>hfstat</a:t>
            </a:r>
            <a:r>
              <a:rPr lang="en-US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C6C66-979B-6D22-C186-67CE24E9F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335" y="1305110"/>
            <a:ext cx="7233316" cy="518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95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27CD7-4493-1EAB-8BE9-02850F5EA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EA4E-E769-365C-D58E-602AD102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Hierfstat</a:t>
            </a:r>
            <a:r>
              <a:rPr lang="en-US" i="1" dirty="0"/>
              <a:t> - </a:t>
            </a:r>
            <a:r>
              <a:rPr lang="en-US" i="1" dirty="0" err="1"/>
              <a:t>fst</a:t>
            </a:r>
            <a:endParaRPr lang="en-US" i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E886A-BC5B-5DED-E5BE-F60810BC6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Estimates pairwise FSTs according to Weir and Cockerham (1984)</a:t>
            </a:r>
          </a:p>
          <a:p>
            <a:pPr lvl="1"/>
            <a:r>
              <a:rPr lang="en-US" dirty="0" err="1"/>
              <a:t>pwcfst</a:t>
            </a:r>
            <a:r>
              <a:rPr lang="en-US" dirty="0"/>
              <a:t> &lt;- </a:t>
            </a:r>
            <a:r>
              <a:rPr lang="en-US" dirty="0" err="1"/>
              <a:t>pairwise.WCfst</a:t>
            </a:r>
            <a:r>
              <a:rPr lang="en-US" dirty="0"/>
              <a:t>(</a:t>
            </a:r>
            <a:r>
              <a:rPr lang="en-US" dirty="0" err="1"/>
              <a:t>hfstat</a:t>
            </a:r>
            <a:r>
              <a:rPr lang="en-US" dirty="0"/>
              <a:t>, diploid=TRUE)</a:t>
            </a:r>
          </a:p>
          <a:p>
            <a:pPr lvl="1"/>
            <a:r>
              <a:rPr lang="en-US" dirty="0" err="1"/>
              <a:t>pwcfst.zero</a:t>
            </a:r>
            <a:r>
              <a:rPr lang="en-US" dirty="0"/>
              <a:t> &lt;- </a:t>
            </a:r>
            <a:r>
              <a:rPr lang="en-US" dirty="0" err="1"/>
              <a:t>pmax</a:t>
            </a:r>
            <a:r>
              <a:rPr lang="en-US" dirty="0"/>
              <a:t>(</a:t>
            </a:r>
            <a:r>
              <a:rPr lang="en-US" dirty="0" err="1"/>
              <a:t>pwcfst</a:t>
            </a:r>
            <a:r>
              <a:rPr lang="en-US" dirty="0"/>
              <a:t>, 0)</a:t>
            </a:r>
          </a:p>
          <a:p>
            <a:r>
              <a:rPr lang="en-US" dirty="0"/>
              <a:t>Save results to table</a:t>
            </a:r>
          </a:p>
          <a:p>
            <a:pPr lvl="1"/>
            <a:r>
              <a:rPr lang="en-US" dirty="0" err="1"/>
              <a:t>write.table</a:t>
            </a:r>
            <a:r>
              <a:rPr lang="en-US" dirty="0"/>
              <a:t>(</a:t>
            </a:r>
            <a:r>
              <a:rPr lang="en-US" dirty="0" err="1"/>
              <a:t>pwcfst.zero</a:t>
            </a:r>
            <a:r>
              <a:rPr lang="en-US" dirty="0"/>
              <a:t>, file='pairwise.WCfstZ.txt’)</a:t>
            </a:r>
          </a:p>
          <a:p>
            <a:pPr lvl="1"/>
            <a:r>
              <a:rPr lang="en-US" dirty="0" err="1"/>
              <a:t>boot.wcfst</a:t>
            </a:r>
            <a:r>
              <a:rPr lang="en-US" dirty="0"/>
              <a:t> &lt;- </a:t>
            </a:r>
            <a:r>
              <a:rPr lang="en-US" dirty="0" err="1"/>
              <a:t>boot.ppfst</a:t>
            </a:r>
            <a:r>
              <a:rPr lang="en-US" dirty="0"/>
              <a:t>(</a:t>
            </a:r>
            <a:r>
              <a:rPr lang="en-US" dirty="0" err="1"/>
              <a:t>hfstat</a:t>
            </a:r>
            <a:r>
              <a:rPr lang="en-US" dirty="0"/>
              <a:t>, </a:t>
            </a:r>
            <a:r>
              <a:rPr lang="en-US" dirty="0" err="1"/>
              <a:t>nboot</a:t>
            </a:r>
            <a:r>
              <a:rPr lang="en-US" dirty="0"/>
              <a:t> =10000, quant=c(0.025,0.975), diploid = TRUE)</a:t>
            </a:r>
          </a:p>
          <a:p>
            <a:pPr lvl="1"/>
            <a:r>
              <a:rPr lang="en-US" dirty="0" err="1"/>
              <a:t>boot.wcfstwrite.table</a:t>
            </a:r>
            <a:r>
              <a:rPr lang="en-US" dirty="0"/>
              <a:t>(</a:t>
            </a:r>
            <a:r>
              <a:rPr lang="en-US" dirty="0" err="1"/>
              <a:t>boot.wcfst$ul</a:t>
            </a:r>
            <a:r>
              <a:rPr lang="en-US" dirty="0"/>
              <a:t>, file='boot.fst.ul.txt’)</a:t>
            </a:r>
          </a:p>
          <a:p>
            <a:pPr lvl="1"/>
            <a:r>
              <a:rPr lang="en-US" dirty="0" err="1"/>
              <a:t>write.table</a:t>
            </a:r>
            <a:r>
              <a:rPr lang="en-US" dirty="0"/>
              <a:t>(</a:t>
            </a:r>
            <a:r>
              <a:rPr lang="en-US" dirty="0" err="1"/>
              <a:t>boot.wcfst$ll</a:t>
            </a:r>
            <a:r>
              <a:rPr lang="en-US" dirty="0"/>
              <a:t>, file='boot.fst.ll.txt’)</a:t>
            </a:r>
          </a:p>
          <a:p>
            <a:pPr lvl="1"/>
            <a:r>
              <a:rPr lang="en-US" dirty="0" err="1"/>
              <a:t>write.table</a:t>
            </a:r>
            <a:r>
              <a:rPr lang="en-US" dirty="0"/>
              <a:t>(</a:t>
            </a:r>
            <a:r>
              <a:rPr lang="en-US" dirty="0" err="1"/>
              <a:t>boot.wcfst</a:t>
            </a:r>
            <a:r>
              <a:rPr lang="en-US" dirty="0"/>
              <a:t>, file='boot.fst.txt')</a:t>
            </a:r>
          </a:p>
        </p:txBody>
      </p:sp>
    </p:spTree>
    <p:extLst>
      <p:ext uri="{BB962C8B-B14F-4D97-AF65-F5344CB8AC3E}">
        <p14:creationId xmlns:p14="http://schemas.microsoft.com/office/powerpoint/2010/main" val="816247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61B85-F42D-5ECF-E1D1-B3890569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C170C-15AD-CDBF-3BF3-305115540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Geographic distance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266F8-1A88-5435-77A6-38EEB99CA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Read in coordinates</a:t>
            </a:r>
          </a:p>
          <a:p>
            <a:pPr lvl="1"/>
            <a:r>
              <a:rPr lang="en-US" dirty="0" err="1"/>
              <a:t>col.coords</a:t>
            </a:r>
            <a:r>
              <a:rPr lang="en-US" dirty="0"/>
              <a:t> &lt;-</a:t>
            </a:r>
            <a:r>
              <a:rPr lang="en-US" dirty="0" err="1"/>
              <a:t>read_excel</a:t>
            </a:r>
            <a:r>
              <a:rPr lang="en-US" dirty="0"/>
              <a:t>("F:\nlcd_land_cover_l48_20210604\ColonyData\NLCD_Coordinates.xlsx", sheet = "sheet1")</a:t>
            </a:r>
          </a:p>
          <a:p>
            <a:r>
              <a:rPr lang="en-US" dirty="0"/>
              <a:t>Keep only unique rows </a:t>
            </a:r>
          </a:p>
          <a:p>
            <a:pPr lvl="1"/>
            <a:r>
              <a:rPr lang="en-US" dirty="0" err="1"/>
              <a:t>datatable</a:t>
            </a:r>
            <a:r>
              <a:rPr lang="en-US" dirty="0"/>
              <a:t> &lt;- unique(</a:t>
            </a:r>
            <a:r>
              <a:rPr lang="en-US" dirty="0" err="1"/>
              <a:t>colcoords</a:t>
            </a:r>
            <a:r>
              <a:rPr lang="en-US" dirty="0"/>
              <a:t>[,1])</a:t>
            </a:r>
          </a:p>
          <a:p>
            <a:pPr lvl="1"/>
            <a:endParaRPr lang="en-US" dirty="0"/>
          </a:p>
          <a:p>
            <a:r>
              <a:rPr lang="en-US" dirty="0"/>
              <a:t>Compute pairwise geographic distances </a:t>
            </a:r>
          </a:p>
          <a:p>
            <a:pPr lvl="1"/>
            <a:r>
              <a:rPr lang="en-US" dirty="0" err="1"/>
              <a:t>geo_distances</a:t>
            </a:r>
            <a:r>
              <a:rPr lang="en-US" dirty="0"/>
              <a:t> &lt;- </a:t>
            </a:r>
            <a:r>
              <a:rPr lang="en-US" dirty="0" err="1"/>
              <a:t>distm</a:t>
            </a:r>
            <a:r>
              <a:rPr lang="en-US" dirty="0"/>
              <a:t>(</a:t>
            </a:r>
            <a:r>
              <a:rPr lang="en-US" dirty="0" err="1"/>
              <a:t>as.matrix</a:t>
            </a:r>
            <a:r>
              <a:rPr lang="en-US" dirty="0"/>
              <a:t>(coords), fun = </a:t>
            </a:r>
            <a:r>
              <a:rPr lang="en-US" dirty="0" err="1"/>
              <a:t>distVincentySphere</a:t>
            </a:r>
            <a:r>
              <a:rPr lang="en-US" dirty="0"/>
              <a:t>)</a:t>
            </a:r>
          </a:p>
          <a:p>
            <a:r>
              <a:rPr lang="en-US" dirty="0"/>
              <a:t> genetic distance measure</a:t>
            </a:r>
          </a:p>
          <a:p>
            <a:pPr lvl="1"/>
            <a:r>
              <a:rPr lang="en-US" dirty="0" err="1"/>
              <a:t>genetic_distances</a:t>
            </a:r>
            <a:r>
              <a:rPr lang="en-US" dirty="0"/>
              <a:t> &lt;- </a:t>
            </a:r>
            <a:r>
              <a:rPr lang="en-US" dirty="0" err="1"/>
              <a:t>vegdist</a:t>
            </a:r>
            <a:r>
              <a:rPr lang="en-US" dirty="0"/>
              <a:t>(</a:t>
            </a:r>
            <a:r>
              <a:rPr lang="en-US" dirty="0" err="1"/>
              <a:t>genotype_matrix</a:t>
            </a:r>
            <a:r>
              <a:rPr lang="en-US" dirty="0"/>
              <a:t>, method = "bray)</a:t>
            </a:r>
          </a:p>
        </p:txBody>
      </p:sp>
    </p:spTree>
    <p:extLst>
      <p:ext uri="{BB962C8B-B14F-4D97-AF65-F5344CB8AC3E}">
        <p14:creationId xmlns:p14="http://schemas.microsoft.com/office/powerpoint/2010/main" val="226923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D870CE1-09B2-3124-0534-A82454F60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8172" y="1167572"/>
            <a:ext cx="8757925" cy="5690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1EF387-25EA-E173-93AE-7DE51E8F2E63}"/>
              </a:ext>
            </a:extLst>
          </p:cNvPr>
          <p:cNvSpPr txBox="1"/>
          <p:nvPr/>
        </p:nvSpPr>
        <p:spPr>
          <a:xfrm>
            <a:off x="308160" y="2014814"/>
            <a:ext cx="39513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Measure of genetic differentiation between subpopulations</a:t>
            </a:r>
          </a:p>
          <a:p>
            <a:endParaRPr lang="en-US" sz="2400" dirty="0"/>
          </a:p>
          <a:p>
            <a:r>
              <a:rPr lang="en-US" sz="2400" dirty="0"/>
              <a:t>Higher F</a:t>
            </a:r>
            <a:r>
              <a:rPr lang="en-US" sz="2400" baseline="-25000" dirty="0"/>
              <a:t>ST </a:t>
            </a:r>
            <a:r>
              <a:rPr lang="en-US" sz="2400" dirty="0"/>
              <a:t> correspond to more genetic differentiation between colonies</a:t>
            </a:r>
          </a:p>
          <a:p>
            <a:endParaRPr lang="en-US" sz="2400" dirty="0"/>
          </a:p>
          <a:p>
            <a:r>
              <a:rPr lang="en-US" sz="2000" i="1" dirty="0" err="1"/>
              <a:t>Hierfstat</a:t>
            </a:r>
            <a:r>
              <a:rPr lang="en-US" sz="2000" dirty="0"/>
              <a:t>  in R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E7A7794-1512-5D46-E5A6-7B0C69E89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61" y="38798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</a:t>
            </a:r>
            <a:r>
              <a:rPr lang="en-US" baseline="-25000" dirty="0"/>
              <a:t>ST</a:t>
            </a:r>
            <a:r>
              <a:rPr lang="en-US" dirty="0"/>
              <a:t>, Fixation Index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2B891-16E4-E074-39BF-EE6EC56A673B}"/>
              </a:ext>
            </a:extLst>
          </p:cNvPr>
          <p:cNvSpPr txBox="1"/>
          <p:nvPr/>
        </p:nvSpPr>
        <p:spPr>
          <a:xfrm>
            <a:off x="10226452" y="527546"/>
            <a:ext cx="1194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2014</a:t>
            </a:r>
          </a:p>
        </p:txBody>
      </p:sp>
    </p:spTree>
    <p:extLst>
      <p:ext uri="{BB962C8B-B14F-4D97-AF65-F5344CB8AC3E}">
        <p14:creationId xmlns:p14="http://schemas.microsoft.com/office/powerpoint/2010/main" val="2464749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CBB003-9F45-C7B8-EAF6-4F3F80CF8A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933" r="3933" b="2439"/>
          <a:stretch/>
        </p:blipFill>
        <p:spPr>
          <a:xfrm>
            <a:off x="3489521" y="1535606"/>
            <a:ext cx="8536576" cy="43747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1EF387-25EA-E173-93AE-7DE51E8F2E63}"/>
              </a:ext>
            </a:extLst>
          </p:cNvPr>
          <p:cNvSpPr txBox="1"/>
          <p:nvPr/>
        </p:nvSpPr>
        <p:spPr>
          <a:xfrm>
            <a:off x="308160" y="2014814"/>
            <a:ext cx="39513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Measure of genetic differentiation between subpopulations</a:t>
            </a:r>
          </a:p>
          <a:p>
            <a:endParaRPr lang="en-US" sz="2400" dirty="0"/>
          </a:p>
          <a:p>
            <a:r>
              <a:rPr lang="en-US" sz="2400" dirty="0"/>
              <a:t>Higher F</a:t>
            </a:r>
            <a:r>
              <a:rPr lang="en-US" sz="2400" baseline="-25000" dirty="0"/>
              <a:t>ST </a:t>
            </a:r>
            <a:r>
              <a:rPr lang="en-US" sz="2400" dirty="0"/>
              <a:t> correspond to more genetic differentiation between colonies</a:t>
            </a:r>
          </a:p>
          <a:p>
            <a:endParaRPr lang="en-US" sz="2400" dirty="0"/>
          </a:p>
          <a:p>
            <a:r>
              <a:rPr lang="en-US" sz="2000" i="1" dirty="0" err="1"/>
              <a:t>Hierfstat</a:t>
            </a:r>
            <a:r>
              <a:rPr lang="en-US" sz="2000" dirty="0"/>
              <a:t>  in R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E7A7794-1512-5D46-E5A6-7B0C69E89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61" y="38798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</a:t>
            </a:r>
            <a:r>
              <a:rPr lang="en-US" baseline="-25000" dirty="0"/>
              <a:t>ST</a:t>
            </a:r>
            <a:r>
              <a:rPr lang="en-US" dirty="0"/>
              <a:t>, Fixation Index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2B891-16E4-E074-39BF-EE6EC56A673B}"/>
              </a:ext>
            </a:extLst>
          </p:cNvPr>
          <p:cNvSpPr txBox="1"/>
          <p:nvPr/>
        </p:nvSpPr>
        <p:spPr>
          <a:xfrm>
            <a:off x="10226452" y="527546"/>
            <a:ext cx="1194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3545534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6B1E-5789-9665-55AF-074FEE802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DBAAB-5D4B-C0EB-C332-80E015A99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Genetic analyses revealed low population differentiation of swallow bugs across southwestern Nebraska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results indicate that passive dispersal may occur more frequently than previously estimated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Don’t have IBD results yet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92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13699</TotalTime>
  <Words>1889</Words>
  <Application>Microsoft Office PowerPoint</Application>
  <PresentationFormat>Widescreen</PresentationFormat>
  <Paragraphs>238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Helvetica Neue</vt:lpstr>
      <vt:lpstr>Times New Roman</vt:lpstr>
      <vt:lpstr>Wingdings</vt:lpstr>
      <vt:lpstr>Office Theme</vt:lpstr>
      <vt:lpstr>Presence/absence of Isolation by distance in the swallow bug</vt:lpstr>
      <vt:lpstr>Background: Cimex vicarius</vt:lpstr>
      <vt:lpstr>Aim</vt:lpstr>
      <vt:lpstr>Methods: pre-sequencing</vt:lpstr>
      <vt:lpstr>Methods: pre-sequencing</vt:lpstr>
      <vt:lpstr>PowerPoint Presentation</vt:lpstr>
      <vt:lpstr>Methods: post-sequencing</vt:lpstr>
      <vt:lpstr>fastQC  MulitQC </vt:lpstr>
      <vt:lpstr>fastQC  MulitQC </vt:lpstr>
      <vt:lpstr>STACKS v2.65</vt:lpstr>
      <vt:lpstr>STACKS – process radtags</vt:lpstr>
      <vt:lpstr>STACKS v2.65</vt:lpstr>
      <vt:lpstr>PowerPoint Presentation</vt:lpstr>
      <vt:lpstr>STACKS 2.65 – bwa mem/integrated alignment</vt:lpstr>
      <vt:lpstr>STACKS 2.65 – bwa mem/integrated alignment</vt:lpstr>
      <vt:lpstr>STACKS 2.65 - populations</vt:lpstr>
      <vt:lpstr>Now to R! </vt:lpstr>
      <vt:lpstr>Genepop files – adegenet/hierfstat</vt:lpstr>
      <vt:lpstr>Hierfstat - fst</vt:lpstr>
      <vt:lpstr>Geographic distance</vt:lpstr>
      <vt:lpstr>FST, Fixation Index</vt:lpstr>
      <vt:lpstr>FST, Fixation Index</vt:lpstr>
      <vt:lpstr>The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Cartmell, Laci</dc:creator>
  <cp:lastModifiedBy>Cartmell, Laci</cp:lastModifiedBy>
  <cp:revision>24</cp:revision>
  <dcterms:created xsi:type="dcterms:W3CDTF">2024-10-16T18:32:57Z</dcterms:created>
  <dcterms:modified xsi:type="dcterms:W3CDTF">2024-11-14T19:50:35Z</dcterms:modified>
</cp:coreProperties>
</file>